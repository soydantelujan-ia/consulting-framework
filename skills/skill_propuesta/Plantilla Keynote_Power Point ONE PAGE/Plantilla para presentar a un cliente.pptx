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8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D56B"/>
    <a:srgbClr val="4574B3"/>
    <a:srgbClr val="DDC872"/>
    <a:srgbClr val="DDC890"/>
    <a:srgbClr val="8084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26" autoAdjust="0"/>
    <p:restoredTop sz="94270" autoAdjust="0"/>
  </p:normalViewPr>
  <p:slideViewPr>
    <p:cSldViewPr snapToGrid="0">
      <p:cViewPr varScale="1">
        <p:scale>
          <a:sx n="48" d="100"/>
          <a:sy n="48" d="100"/>
        </p:scale>
        <p:origin x="1578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683A-9697-4BE9-8EF5-6C05587363B0}" type="datetimeFigureOut">
              <a:rPr lang="es-EC" smtClean="0"/>
              <a:t>9/10/2019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77636-6D3F-4278-809D-8C69895CF5B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53568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683A-9697-4BE9-8EF5-6C05587363B0}" type="datetimeFigureOut">
              <a:rPr lang="es-EC" smtClean="0"/>
              <a:t>9/10/2019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77636-6D3F-4278-809D-8C69895CF5B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30019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683A-9697-4BE9-8EF5-6C05587363B0}" type="datetimeFigureOut">
              <a:rPr lang="es-EC" smtClean="0"/>
              <a:t>9/10/2019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77636-6D3F-4278-809D-8C69895CF5B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41250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683A-9697-4BE9-8EF5-6C05587363B0}" type="datetimeFigureOut">
              <a:rPr lang="es-EC" smtClean="0"/>
              <a:t>9/10/2019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77636-6D3F-4278-809D-8C69895CF5B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71974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683A-9697-4BE9-8EF5-6C05587363B0}" type="datetimeFigureOut">
              <a:rPr lang="es-EC" smtClean="0"/>
              <a:t>9/10/2019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77636-6D3F-4278-809D-8C69895CF5B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94225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683A-9697-4BE9-8EF5-6C05587363B0}" type="datetimeFigureOut">
              <a:rPr lang="es-EC" smtClean="0"/>
              <a:t>9/10/2019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77636-6D3F-4278-809D-8C69895CF5B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41147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683A-9697-4BE9-8EF5-6C05587363B0}" type="datetimeFigureOut">
              <a:rPr lang="es-EC" smtClean="0"/>
              <a:t>9/10/2019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77636-6D3F-4278-809D-8C69895CF5B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66770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683A-9697-4BE9-8EF5-6C05587363B0}" type="datetimeFigureOut">
              <a:rPr lang="es-EC" smtClean="0"/>
              <a:t>9/10/2019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77636-6D3F-4278-809D-8C69895CF5B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60895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683A-9697-4BE9-8EF5-6C05587363B0}" type="datetimeFigureOut">
              <a:rPr lang="es-EC" smtClean="0"/>
              <a:t>9/10/2019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77636-6D3F-4278-809D-8C69895CF5B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25366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683A-9697-4BE9-8EF5-6C05587363B0}" type="datetimeFigureOut">
              <a:rPr lang="es-EC" smtClean="0"/>
              <a:t>9/10/2019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77636-6D3F-4278-809D-8C69895CF5B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44906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683A-9697-4BE9-8EF5-6C05587363B0}" type="datetimeFigureOut">
              <a:rPr lang="es-EC" smtClean="0"/>
              <a:t>9/10/2019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77636-6D3F-4278-809D-8C69895CF5B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57661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5000"/>
            <a:lum/>
          </a:blip>
          <a:srcRect/>
          <a:stretch>
            <a:fillRect l="-43000" t="22000" r="-43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F683A-9697-4BE9-8EF5-6C05587363B0}" type="datetimeFigureOut">
              <a:rPr lang="es-EC" smtClean="0"/>
              <a:t>9/10/2019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77636-6D3F-4278-809D-8C69895CF5B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18748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ángulo 36">
            <a:extLst>
              <a:ext uri="{FF2B5EF4-FFF2-40B4-BE49-F238E27FC236}">
                <a16:creationId xmlns:a16="http://schemas.microsoft.com/office/drawing/2014/main" id="{577764EB-E7B7-4579-9699-86D4E302CD05}"/>
              </a:ext>
            </a:extLst>
          </p:cNvPr>
          <p:cNvSpPr/>
          <p:nvPr/>
        </p:nvSpPr>
        <p:spPr>
          <a:xfrm>
            <a:off x="0" y="2122827"/>
            <a:ext cx="6858000" cy="2316829"/>
          </a:xfrm>
          <a:prstGeom prst="rect">
            <a:avLst/>
          </a:prstGeom>
          <a:solidFill>
            <a:srgbClr val="4574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32" name="DIAGNÓSTICO…">
            <a:extLst>
              <a:ext uri="{FF2B5EF4-FFF2-40B4-BE49-F238E27FC236}">
                <a16:creationId xmlns:a16="http://schemas.microsoft.com/office/drawing/2014/main" id="{59EE7C7E-A2EF-4DE8-9178-3271B9642412}"/>
              </a:ext>
            </a:extLst>
          </p:cNvPr>
          <p:cNvSpPr txBox="1"/>
          <p:nvPr/>
        </p:nvSpPr>
        <p:spPr>
          <a:xfrm>
            <a:off x="368663" y="1011433"/>
            <a:ext cx="2839201" cy="94547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963" tIns="10963" rIns="10963" bIns="10963" anchor="ctr">
            <a:spAutoFit/>
          </a:bodyPr>
          <a:lstStyle/>
          <a:p>
            <a:pPr algn="l">
              <a:defRPr sz="600" b="0"/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DIAGNÓSTICO</a:t>
            </a:r>
          </a:p>
          <a:p>
            <a:pPr>
              <a:defRPr sz="600" b="0"/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————————————————————————————————————————————————</a:t>
            </a:r>
            <a:r>
              <a:rPr lang="es-EC" sz="1200" dirty="0">
                <a:latin typeface="Arial" panose="020B0604020202020204" pitchFamily="34" charset="0"/>
                <a:cs typeface="Arial" panose="020B0604020202020204" pitchFamily="34" charset="0"/>
              </a:rPr>
              <a:t>————————————————————————</a:t>
            </a:r>
          </a:p>
        </p:txBody>
      </p:sp>
      <p:sp>
        <p:nvSpPr>
          <p:cNvPr id="33" name="OBJETIVOS…">
            <a:extLst>
              <a:ext uri="{FF2B5EF4-FFF2-40B4-BE49-F238E27FC236}">
                <a16:creationId xmlns:a16="http://schemas.microsoft.com/office/drawing/2014/main" id="{E83D980B-0243-4856-BEAD-FDC849119AB2}"/>
              </a:ext>
            </a:extLst>
          </p:cNvPr>
          <p:cNvSpPr txBox="1"/>
          <p:nvPr/>
        </p:nvSpPr>
        <p:spPr>
          <a:xfrm>
            <a:off x="3650136" y="1011433"/>
            <a:ext cx="2839201" cy="76080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963" tIns="10963" rIns="10963" bIns="10963" anchor="ctr">
            <a:spAutoFit/>
          </a:bodyPr>
          <a:lstStyle/>
          <a:p>
            <a:pPr algn="l">
              <a:defRPr sz="600" b="0"/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</a:p>
          <a:p>
            <a:pPr>
              <a:defRPr sz="600" b="0"/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1- ———————————</a:t>
            </a:r>
            <a:r>
              <a:rPr lang="es-EC" sz="1200" dirty="0">
                <a:latin typeface="Arial" panose="020B0604020202020204" pitchFamily="34" charset="0"/>
                <a:cs typeface="Arial" panose="020B0604020202020204" pitchFamily="34" charset="0"/>
              </a:rPr>
              <a:t>————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——</a:t>
            </a:r>
          </a:p>
          <a:p>
            <a:pPr>
              <a:defRPr sz="600" b="0"/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2- ————————————</a:t>
            </a:r>
            <a:r>
              <a:rPr lang="es-EC" sz="1200" dirty="0">
                <a:latin typeface="Arial" panose="020B0604020202020204" pitchFamily="34" charset="0"/>
                <a:cs typeface="Arial" panose="020B0604020202020204" pitchFamily="34" charset="0"/>
              </a:rPr>
              <a:t>——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———</a:t>
            </a:r>
          </a:p>
          <a:p>
            <a:pPr>
              <a:defRPr sz="600" b="0"/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3- ————————————</a:t>
            </a:r>
            <a:r>
              <a:rPr lang="es-EC" sz="1200" dirty="0">
                <a:latin typeface="Arial" panose="020B0604020202020204" pitchFamily="34" charset="0"/>
                <a:cs typeface="Arial" panose="020B0604020202020204" pitchFamily="34" charset="0"/>
              </a:rPr>
              <a:t>——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———</a:t>
            </a:r>
          </a:p>
        </p:txBody>
      </p:sp>
      <p:sp>
        <p:nvSpPr>
          <p:cNvPr id="34" name="PLAN ESTRATÉGICO">
            <a:extLst>
              <a:ext uri="{FF2B5EF4-FFF2-40B4-BE49-F238E27FC236}">
                <a16:creationId xmlns:a16="http://schemas.microsoft.com/office/drawing/2014/main" id="{AA4D2557-CCD1-4899-AA87-47ED28B90E05}"/>
              </a:ext>
            </a:extLst>
          </p:cNvPr>
          <p:cNvSpPr txBox="1"/>
          <p:nvPr/>
        </p:nvSpPr>
        <p:spPr>
          <a:xfrm>
            <a:off x="2137444" y="2281268"/>
            <a:ext cx="2583112" cy="20680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963" tIns="10963" rIns="10963" bIns="10963" anchor="ctr">
            <a:spAutoFit/>
          </a:bodyPr>
          <a:lstStyle>
            <a:lvl1pPr>
              <a:defRPr sz="600" b="0"/>
            </a:lvl1pPr>
          </a:lstStyle>
          <a:p>
            <a:pPr algn="ctr"/>
            <a:r>
              <a:rPr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ESTRATÉGICO</a:t>
            </a:r>
          </a:p>
        </p:txBody>
      </p:sp>
      <p:sp>
        <p:nvSpPr>
          <p:cNvPr id="38" name="DIAGNÓSTICO…">
            <a:extLst>
              <a:ext uri="{FF2B5EF4-FFF2-40B4-BE49-F238E27FC236}">
                <a16:creationId xmlns:a16="http://schemas.microsoft.com/office/drawing/2014/main" id="{1C848A0B-67AF-4A21-842D-F218974D1185}"/>
              </a:ext>
            </a:extLst>
          </p:cNvPr>
          <p:cNvSpPr txBox="1"/>
          <p:nvPr/>
        </p:nvSpPr>
        <p:spPr>
          <a:xfrm>
            <a:off x="368663" y="2626735"/>
            <a:ext cx="2839201" cy="168413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963" tIns="10963" rIns="10963" bIns="10963" anchor="ctr">
            <a:spAutoFit/>
          </a:bodyPr>
          <a:lstStyle/>
          <a:p>
            <a:pPr>
              <a:defRPr sz="600" b="0"/>
            </a:pPr>
            <a:r>
              <a:rPr lang="es-EC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ESTRATEGIAS</a:t>
            </a:r>
          </a:p>
          <a:p>
            <a:pPr marL="171450" indent="-171450">
              <a:buFont typeface="Arial" panose="020B0604020202020204" pitchFamily="34" charset="0"/>
              <a:buChar char="•"/>
              <a:defRPr sz="600" b="0"/>
            </a:pPr>
            <a:r>
              <a:rPr lang="es-EC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—————————————————</a:t>
            </a:r>
          </a:p>
          <a:p>
            <a:pPr marL="171450" indent="-171450">
              <a:buFont typeface="Arial" panose="020B0604020202020204" pitchFamily="34" charset="0"/>
              <a:buChar char="•"/>
              <a:defRPr sz="600" b="0"/>
            </a:pPr>
            <a:r>
              <a:rPr lang="es-EC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—————————————————</a:t>
            </a:r>
          </a:p>
          <a:p>
            <a:pPr marL="171450" indent="-171450">
              <a:buFont typeface="Arial" panose="020B0604020202020204" pitchFamily="34" charset="0"/>
              <a:buChar char="•"/>
              <a:defRPr sz="600" b="0"/>
            </a:pPr>
            <a:r>
              <a:rPr lang="es-EC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—————————————————</a:t>
            </a:r>
          </a:p>
          <a:p>
            <a:pPr marL="171450" indent="-171450">
              <a:buFont typeface="Arial" panose="020B0604020202020204" pitchFamily="34" charset="0"/>
              <a:buChar char="•"/>
              <a:defRPr sz="600" b="0"/>
            </a:pPr>
            <a:r>
              <a:rPr lang="es-EC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—————————————————</a:t>
            </a:r>
          </a:p>
          <a:p>
            <a:pPr marL="171450" indent="-171450">
              <a:buFont typeface="Arial" panose="020B0604020202020204" pitchFamily="34" charset="0"/>
              <a:buChar char="•"/>
              <a:defRPr sz="600" b="0"/>
            </a:pPr>
            <a:r>
              <a:rPr lang="es-EC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—————————————————</a:t>
            </a:r>
          </a:p>
          <a:p>
            <a:pPr marL="171450" indent="-171450">
              <a:buFont typeface="Arial" panose="020B0604020202020204" pitchFamily="34" charset="0"/>
              <a:buChar char="•"/>
              <a:defRPr sz="600" b="0"/>
            </a:pPr>
            <a:r>
              <a:rPr lang="es-EC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—————————————————</a:t>
            </a:r>
          </a:p>
          <a:p>
            <a:pPr marL="171450" indent="-171450">
              <a:buFont typeface="Arial" panose="020B0604020202020204" pitchFamily="34" charset="0"/>
              <a:buChar char="•"/>
              <a:defRPr sz="600" b="0"/>
            </a:pPr>
            <a:r>
              <a:rPr lang="es-EC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—————————————————</a:t>
            </a:r>
          </a:p>
          <a:p>
            <a:pPr marL="171450" indent="-171450">
              <a:buFont typeface="Arial" panose="020B0604020202020204" pitchFamily="34" charset="0"/>
              <a:buChar char="•"/>
              <a:defRPr sz="600" b="0"/>
            </a:pPr>
            <a:r>
              <a:rPr lang="es-EC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—————————————————</a:t>
            </a:r>
          </a:p>
        </p:txBody>
      </p:sp>
      <p:sp>
        <p:nvSpPr>
          <p:cNvPr id="39" name="OBJETIVOS…">
            <a:extLst>
              <a:ext uri="{FF2B5EF4-FFF2-40B4-BE49-F238E27FC236}">
                <a16:creationId xmlns:a16="http://schemas.microsoft.com/office/drawing/2014/main" id="{71C9E442-0DFA-49CD-8EF3-1A8505EC66A0}"/>
              </a:ext>
            </a:extLst>
          </p:cNvPr>
          <p:cNvSpPr txBox="1"/>
          <p:nvPr/>
        </p:nvSpPr>
        <p:spPr>
          <a:xfrm>
            <a:off x="3650136" y="2626735"/>
            <a:ext cx="2839201" cy="168413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963" tIns="10963" rIns="10963" bIns="10963" anchor="ctr">
            <a:spAutoFit/>
          </a:bodyPr>
          <a:lstStyle/>
          <a:p>
            <a:pPr>
              <a:defRPr sz="600" b="0"/>
            </a:pPr>
            <a:r>
              <a:rPr lang="es-EC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TÁCTICAS</a:t>
            </a:r>
          </a:p>
          <a:p>
            <a:pPr marL="171450" indent="-171450">
              <a:buFont typeface="Arial" panose="020B0604020202020204" pitchFamily="34" charset="0"/>
              <a:buChar char="•"/>
              <a:defRPr sz="600" b="0"/>
            </a:pPr>
            <a:r>
              <a:rPr lang="es-EC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—————————————————</a:t>
            </a:r>
          </a:p>
          <a:p>
            <a:pPr marL="171450" indent="-171450">
              <a:buFont typeface="Arial" panose="020B0604020202020204" pitchFamily="34" charset="0"/>
              <a:buChar char="•"/>
              <a:defRPr sz="600" b="0"/>
            </a:pPr>
            <a:r>
              <a:rPr lang="es-EC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—————————————————</a:t>
            </a:r>
          </a:p>
          <a:p>
            <a:pPr marL="171450" indent="-171450">
              <a:buFont typeface="Arial" panose="020B0604020202020204" pitchFamily="34" charset="0"/>
              <a:buChar char="•"/>
              <a:defRPr sz="600" b="0"/>
            </a:pPr>
            <a:r>
              <a:rPr lang="es-EC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—————————————————</a:t>
            </a:r>
          </a:p>
          <a:p>
            <a:pPr marL="171450" indent="-171450">
              <a:buFont typeface="Arial" panose="020B0604020202020204" pitchFamily="34" charset="0"/>
              <a:buChar char="•"/>
              <a:defRPr sz="600" b="0"/>
            </a:pPr>
            <a:r>
              <a:rPr lang="es-EC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—————————————————</a:t>
            </a:r>
          </a:p>
          <a:p>
            <a:pPr marL="171450" indent="-171450">
              <a:buFont typeface="Arial" panose="020B0604020202020204" pitchFamily="34" charset="0"/>
              <a:buChar char="•"/>
              <a:defRPr sz="600" b="0"/>
            </a:pPr>
            <a:r>
              <a:rPr lang="es-EC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—————————————————</a:t>
            </a:r>
          </a:p>
          <a:p>
            <a:pPr marL="171450" indent="-171450">
              <a:buFont typeface="Arial" panose="020B0604020202020204" pitchFamily="34" charset="0"/>
              <a:buChar char="•"/>
              <a:defRPr sz="600" b="0"/>
            </a:pPr>
            <a:r>
              <a:rPr lang="es-EC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—————————————————</a:t>
            </a:r>
          </a:p>
          <a:p>
            <a:pPr marL="171450" indent="-171450">
              <a:buFont typeface="Arial" panose="020B0604020202020204" pitchFamily="34" charset="0"/>
              <a:buChar char="•"/>
              <a:defRPr sz="600" b="0"/>
            </a:pPr>
            <a:r>
              <a:rPr lang="es-EC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—————————————————</a:t>
            </a:r>
          </a:p>
          <a:p>
            <a:pPr marL="171450" indent="-171450">
              <a:buFont typeface="Arial" panose="020B0604020202020204" pitchFamily="34" charset="0"/>
              <a:buChar char="•"/>
              <a:defRPr sz="600" b="0"/>
            </a:pPr>
            <a:r>
              <a:rPr lang="es-EC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—————————————————</a:t>
            </a:r>
          </a:p>
        </p:txBody>
      </p:sp>
      <p:sp>
        <p:nvSpPr>
          <p:cNvPr id="40" name="Línea">
            <a:extLst>
              <a:ext uri="{FF2B5EF4-FFF2-40B4-BE49-F238E27FC236}">
                <a16:creationId xmlns:a16="http://schemas.microsoft.com/office/drawing/2014/main" id="{481D949D-DCA2-400C-94BE-B7946FCAADE1}"/>
              </a:ext>
            </a:extLst>
          </p:cNvPr>
          <p:cNvSpPr/>
          <p:nvPr/>
        </p:nvSpPr>
        <p:spPr>
          <a:xfrm>
            <a:off x="424266" y="5530417"/>
            <a:ext cx="6009468" cy="0"/>
          </a:xfrm>
          <a:prstGeom prst="line">
            <a:avLst/>
          </a:prstGeom>
          <a:ln w="38100">
            <a:solidFill>
              <a:schemeClr val="accent1"/>
            </a:solidFill>
            <a:miter lim="400000"/>
            <a:tailEnd type="triangle"/>
          </a:ln>
        </p:spPr>
        <p:txBody>
          <a:bodyPr lIns="10963" tIns="10963" rIns="10963" bIns="10963" anchor="ctr"/>
          <a:lstStyle/>
          <a:p>
            <a:pPr>
              <a:defRPr sz="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6" name="Enero">
            <a:extLst>
              <a:ext uri="{FF2B5EF4-FFF2-40B4-BE49-F238E27FC236}">
                <a16:creationId xmlns:a16="http://schemas.microsoft.com/office/drawing/2014/main" id="{F375097E-6E12-426D-B4CF-B3C6761170EE}"/>
              </a:ext>
            </a:extLst>
          </p:cNvPr>
          <p:cNvSpPr txBox="1"/>
          <p:nvPr/>
        </p:nvSpPr>
        <p:spPr>
          <a:xfrm>
            <a:off x="964297" y="6111174"/>
            <a:ext cx="430906" cy="20680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0963" tIns="10963" rIns="10963" bIns="10963" anchor="ctr">
            <a:spAutoFit/>
          </a:bodyPr>
          <a:lstStyle>
            <a:lvl1pPr>
              <a:defRPr sz="700"/>
            </a:lvl1pPr>
          </a:lstStyle>
          <a:p>
            <a:pPr algn="ctr"/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Enero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Febrero">
            <a:extLst>
              <a:ext uri="{FF2B5EF4-FFF2-40B4-BE49-F238E27FC236}">
                <a16:creationId xmlns:a16="http://schemas.microsoft.com/office/drawing/2014/main" id="{3059E1EF-AB7A-41EA-A6EF-5EA875AAC326}"/>
              </a:ext>
            </a:extLst>
          </p:cNvPr>
          <p:cNvSpPr txBox="1"/>
          <p:nvPr/>
        </p:nvSpPr>
        <p:spPr>
          <a:xfrm>
            <a:off x="2399677" y="6111174"/>
            <a:ext cx="559147" cy="20680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0963" tIns="10963" rIns="10963" bIns="10963" anchor="ctr">
            <a:spAutoFit/>
          </a:bodyPr>
          <a:lstStyle>
            <a:lvl1pPr>
              <a:defRPr sz="700"/>
            </a:lvl1pPr>
          </a:lstStyle>
          <a:p>
            <a:pPr algn="ctr"/>
            <a:r>
              <a:rPr sz="1200">
                <a:latin typeface="Arial" panose="020B0604020202020204" pitchFamily="34" charset="0"/>
                <a:cs typeface="Arial" panose="020B0604020202020204" pitchFamily="34" charset="0"/>
              </a:rPr>
              <a:t>Febrero</a:t>
            </a:r>
          </a:p>
        </p:txBody>
      </p:sp>
      <p:sp>
        <p:nvSpPr>
          <p:cNvPr id="48" name="Marzo">
            <a:extLst>
              <a:ext uri="{FF2B5EF4-FFF2-40B4-BE49-F238E27FC236}">
                <a16:creationId xmlns:a16="http://schemas.microsoft.com/office/drawing/2014/main" id="{BF465C77-351C-4D56-8447-1D5FA6ED436A}"/>
              </a:ext>
            </a:extLst>
          </p:cNvPr>
          <p:cNvSpPr txBox="1"/>
          <p:nvPr/>
        </p:nvSpPr>
        <p:spPr>
          <a:xfrm>
            <a:off x="3954481" y="6111174"/>
            <a:ext cx="448539" cy="20680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0963" tIns="10963" rIns="10963" bIns="10963" anchor="ctr">
            <a:spAutoFit/>
          </a:bodyPr>
          <a:lstStyle>
            <a:lvl1pPr>
              <a:defRPr sz="700"/>
            </a:lvl1pPr>
          </a:lstStyle>
          <a:p>
            <a:pPr algn="ctr"/>
            <a:r>
              <a:rPr sz="1200">
                <a:latin typeface="Arial" panose="020B0604020202020204" pitchFamily="34" charset="0"/>
                <a:cs typeface="Arial" panose="020B0604020202020204" pitchFamily="34" charset="0"/>
              </a:rPr>
              <a:t>Marzo</a:t>
            </a:r>
          </a:p>
        </p:txBody>
      </p:sp>
      <p:sp>
        <p:nvSpPr>
          <p:cNvPr id="49" name="Abril">
            <a:extLst>
              <a:ext uri="{FF2B5EF4-FFF2-40B4-BE49-F238E27FC236}">
                <a16:creationId xmlns:a16="http://schemas.microsoft.com/office/drawing/2014/main" id="{4A384BA6-D098-4D7C-90BC-0BDE62538374}"/>
              </a:ext>
            </a:extLst>
          </p:cNvPr>
          <p:cNvSpPr txBox="1"/>
          <p:nvPr/>
        </p:nvSpPr>
        <p:spPr>
          <a:xfrm>
            <a:off x="5514093" y="6111174"/>
            <a:ext cx="328314" cy="20680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0963" tIns="10963" rIns="10963" bIns="10963" anchor="ctr">
            <a:spAutoFit/>
          </a:bodyPr>
          <a:lstStyle>
            <a:lvl1pPr>
              <a:defRPr sz="700"/>
            </a:lvl1pPr>
          </a:lstStyle>
          <a:p>
            <a:pPr algn="ctr"/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AF918FBF-0BF4-4611-A905-54AD8B73484B}"/>
              </a:ext>
            </a:extLst>
          </p:cNvPr>
          <p:cNvSpPr/>
          <p:nvPr/>
        </p:nvSpPr>
        <p:spPr>
          <a:xfrm>
            <a:off x="2760387" y="4619422"/>
            <a:ext cx="133722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C" sz="1200" b="1" dirty="0">
                <a:latin typeface="Arial" panose="020B0604020202020204" pitchFamily="34" charset="0"/>
                <a:cs typeface="Arial" panose="020B0604020202020204" pitchFamily="34" charset="0"/>
              </a:rPr>
              <a:t>CRONOGRAMA</a:t>
            </a:r>
          </a:p>
        </p:txBody>
      </p:sp>
      <p:graphicFrame>
        <p:nvGraphicFramePr>
          <p:cNvPr id="52" name="Tabla">
            <a:extLst>
              <a:ext uri="{FF2B5EF4-FFF2-40B4-BE49-F238E27FC236}">
                <a16:creationId xmlns:a16="http://schemas.microsoft.com/office/drawing/2014/main" id="{E15F0A73-00A6-466B-AD9A-48C4DCA41A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809353"/>
              </p:ext>
            </p:extLst>
          </p:nvPr>
        </p:nvGraphicFramePr>
        <p:xfrm>
          <a:off x="313282" y="6848451"/>
          <a:ext cx="6231435" cy="2576560"/>
        </p:xfrm>
        <a:graphic>
          <a:graphicData uri="http://schemas.openxmlformats.org/drawingml/2006/table">
            <a:tbl>
              <a:tblPr/>
              <a:tblGrid>
                <a:gridCol w="2851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9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52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 b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Helvetica Neue"/>
                        </a:rPr>
                        <a:t>Elemento</a:t>
                      </a:r>
                      <a:endParaRPr sz="1200" b="1" dirty="0">
                        <a:latin typeface="Arial" panose="020B0604020202020204" pitchFamily="34" charset="0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  <a:solidFill>
                      <a:srgbClr val="F2D56B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defRPr sz="1800"/>
                      </a:pPr>
                      <a:r>
                        <a:rPr sz="1200" b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Helvetica Neue"/>
                        </a:rPr>
                        <a:t>Precio</a:t>
                      </a:r>
                      <a:endParaRPr sz="1200" b="1" dirty="0">
                        <a:latin typeface="Arial" panose="020B0604020202020204" pitchFamily="34" charset="0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  <a:solidFill>
                      <a:srgbClr val="F2D56B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defRPr sz="1800"/>
                      </a:pPr>
                      <a:r>
                        <a:rPr sz="1200" b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Helvetica Neue"/>
                        </a:rPr>
                        <a:t>TOTAL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  <a:solidFill>
                      <a:srgbClr val="F2D5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760">
                <a:tc>
                  <a:txBody>
                    <a:bodyPr/>
                    <a:lstStyle/>
                    <a:p>
                      <a:pPr algn="l" defTabSz="914400">
                        <a:defRPr sz="800">
                          <a:sym typeface="Helvetica Neue"/>
                        </a:defRPr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defRPr sz="800">
                          <a:sym typeface="Helvetica Neue"/>
                        </a:defRPr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defRPr sz="800">
                          <a:sym typeface="Helvetica Neue"/>
                        </a:defRPr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760">
                <a:tc>
                  <a:txBody>
                    <a:bodyPr/>
                    <a:lstStyle/>
                    <a:p>
                      <a:pPr algn="l" defTabSz="914400">
                        <a:defRPr sz="800">
                          <a:sym typeface="Helvetica Neue"/>
                        </a:defRPr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defRPr sz="800">
                          <a:sym typeface="Helvetica Neue"/>
                        </a:defRPr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defRPr sz="800">
                          <a:sym typeface="Helvetica Neue"/>
                        </a:defRPr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760">
                <a:tc>
                  <a:txBody>
                    <a:bodyPr/>
                    <a:lstStyle/>
                    <a:p>
                      <a:pPr algn="l" defTabSz="914400">
                        <a:defRPr sz="800">
                          <a:sym typeface="Helvetica Neue"/>
                        </a:defRPr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defRPr sz="800">
                          <a:sym typeface="Helvetica Neue"/>
                        </a:defRPr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defRPr sz="800">
                          <a:sym typeface="Helvetica Neue"/>
                        </a:defRPr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760">
                <a:tc>
                  <a:txBody>
                    <a:bodyPr/>
                    <a:lstStyle/>
                    <a:p>
                      <a:pPr algn="l" defTabSz="914400">
                        <a:defRPr sz="800">
                          <a:sym typeface="Helvetica Neue"/>
                        </a:defRPr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defRPr sz="800">
                          <a:sym typeface="Helvetica Neue"/>
                        </a:defRPr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defRPr sz="800">
                          <a:solidFill>
                            <a:srgbClr val="FFFFFF"/>
                          </a:solidFill>
                          <a:sym typeface="Helvetica Neue"/>
                        </a:defRPr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  <a:solidFill>
                      <a:srgbClr val="4574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" name="Rectángulo 52">
            <a:extLst>
              <a:ext uri="{FF2B5EF4-FFF2-40B4-BE49-F238E27FC236}">
                <a16:creationId xmlns:a16="http://schemas.microsoft.com/office/drawing/2014/main" id="{C9737CB1-2EE1-49B5-A72F-A7FDF15ED2A5}"/>
              </a:ext>
            </a:extLst>
          </p:cNvPr>
          <p:cNvSpPr/>
          <p:nvPr/>
        </p:nvSpPr>
        <p:spPr>
          <a:xfrm>
            <a:off x="2760387" y="6484834"/>
            <a:ext cx="13440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C" sz="1200" b="1" dirty="0">
                <a:latin typeface="Arial" panose="020B0604020202020204" pitchFamily="34" charset="0"/>
                <a:cs typeface="Arial" panose="020B0604020202020204" pitchFamily="34" charset="0"/>
              </a:rPr>
              <a:t>PRESUPUESTO</a:t>
            </a:r>
          </a:p>
        </p:txBody>
      </p:sp>
      <p:pic>
        <p:nvPicPr>
          <p:cNvPr id="58" name="Imagen 57">
            <a:extLst>
              <a:ext uri="{FF2B5EF4-FFF2-40B4-BE49-F238E27FC236}">
                <a16:creationId xmlns:a16="http://schemas.microsoft.com/office/drawing/2014/main" id="{CDE59090-AC17-4DC0-9866-EFE79501C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97" y="4930727"/>
            <a:ext cx="817706" cy="1168921"/>
          </a:xfrm>
          <a:prstGeom prst="rect">
            <a:avLst/>
          </a:prstGeom>
        </p:spPr>
      </p:pic>
      <p:pic>
        <p:nvPicPr>
          <p:cNvPr id="59" name="Imagen 58">
            <a:extLst>
              <a:ext uri="{FF2B5EF4-FFF2-40B4-BE49-F238E27FC236}">
                <a16:creationId xmlns:a16="http://schemas.microsoft.com/office/drawing/2014/main" id="{DEBBDB06-8A57-4A74-9D15-D74802276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397" y="4930727"/>
            <a:ext cx="817706" cy="1168921"/>
          </a:xfrm>
          <a:prstGeom prst="rect">
            <a:avLst/>
          </a:prstGeom>
        </p:spPr>
      </p:pic>
      <p:pic>
        <p:nvPicPr>
          <p:cNvPr id="60" name="Imagen 59">
            <a:extLst>
              <a:ext uri="{FF2B5EF4-FFF2-40B4-BE49-F238E27FC236}">
                <a16:creationId xmlns:a16="http://schemas.microsoft.com/office/drawing/2014/main" id="{B97CEF9E-128B-4F59-A363-98F10F5C3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897" y="4930727"/>
            <a:ext cx="817706" cy="1168921"/>
          </a:xfrm>
          <a:prstGeom prst="rect">
            <a:avLst/>
          </a:prstGeom>
        </p:spPr>
      </p:pic>
      <p:pic>
        <p:nvPicPr>
          <p:cNvPr id="61" name="Imagen 60">
            <a:extLst>
              <a:ext uri="{FF2B5EF4-FFF2-40B4-BE49-F238E27FC236}">
                <a16:creationId xmlns:a16="http://schemas.microsoft.com/office/drawing/2014/main" id="{8D864C1F-8D75-4750-BE00-4F124B1F6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397" y="4930727"/>
            <a:ext cx="817706" cy="1168921"/>
          </a:xfrm>
          <a:prstGeom prst="rect">
            <a:avLst/>
          </a:prstGeom>
        </p:spPr>
      </p:pic>
      <p:sp>
        <p:nvSpPr>
          <p:cNvPr id="62" name="Enero">
            <a:extLst>
              <a:ext uri="{FF2B5EF4-FFF2-40B4-BE49-F238E27FC236}">
                <a16:creationId xmlns:a16="http://schemas.microsoft.com/office/drawing/2014/main" id="{CEEBFB28-5361-483E-A0DD-DD12D45C34C1}"/>
              </a:ext>
            </a:extLst>
          </p:cNvPr>
          <p:cNvSpPr txBox="1"/>
          <p:nvPr/>
        </p:nvSpPr>
        <p:spPr>
          <a:xfrm>
            <a:off x="933840" y="5284206"/>
            <a:ext cx="491820" cy="20680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963" tIns="10963" rIns="10963" bIns="10963" anchor="ctr">
            <a:spAutoFit/>
          </a:bodyPr>
          <a:lstStyle>
            <a:lvl1pPr>
              <a:defRPr sz="700"/>
            </a:lvl1pPr>
          </a:lstStyle>
          <a:p>
            <a:pPr algn="ctr"/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Fase 1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Enero">
            <a:extLst>
              <a:ext uri="{FF2B5EF4-FFF2-40B4-BE49-F238E27FC236}">
                <a16:creationId xmlns:a16="http://schemas.microsoft.com/office/drawing/2014/main" id="{6BBA29EA-5AD7-4E04-A804-A19158F99500}"/>
              </a:ext>
            </a:extLst>
          </p:cNvPr>
          <p:cNvSpPr txBox="1"/>
          <p:nvPr/>
        </p:nvSpPr>
        <p:spPr>
          <a:xfrm>
            <a:off x="2433340" y="5284206"/>
            <a:ext cx="491820" cy="20680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963" tIns="10963" rIns="10963" bIns="10963" anchor="ctr">
            <a:spAutoFit/>
          </a:bodyPr>
          <a:lstStyle>
            <a:lvl1pPr>
              <a:defRPr sz="700"/>
            </a:lvl1pPr>
          </a:lstStyle>
          <a:p>
            <a:pPr algn="ctr"/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Fase 4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Enero">
            <a:extLst>
              <a:ext uri="{FF2B5EF4-FFF2-40B4-BE49-F238E27FC236}">
                <a16:creationId xmlns:a16="http://schemas.microsoft.com/office/drawing/2014/main" id="{9593EC2D-8275-474F-B4DF-36F3CE64BE60}"/>
              </a:ext>
            </a:extLst>
          </p:cNvPr>
          <p:cNvSpPr txBox="1"/>
          <p:nvPr/>
        </p:nvSpPr>
        <p:spPr>
          <a:xfrm>
            <a:off x="3932840" y="5284206"/>
            <a:ext cx="491820" cy="20680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963" tIns="10963" rIns="10963" bIns="10963" anchor="ctr">
            <a:spAutoFit/>
          </a:bodyPr>
          <a:lstStyle>
            <a:lvl1pPr>
              <a:defRPr sz="700"/>
            </a:lvl1pPr>
          </a:lstStyle>
          <a:p>
            <a:pPr algn="ctr"/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Fase 3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Enero">
            <a:extLst>
              <a:ext uri="{FF2B5EF4-FFF2-40B4-BE49-F238E27FC236}">
                <a16:creationId xmlns:a16="http://schemas.microsoft.com/office/drawing/2014/main" id="{52B5D788-A8DB-4B25-8650-3F6F547DEDA2}"/>
              </a:ext>
            </a:extLst>
          </p:cNvPr>
          <p:cNvSpPr txBox="1"/>
          <p:nvPr/>
        </p:nvSpPr>
        <p:spPr>
          <a:xfrm>
            <a:off x="5432340" y="5284206"/>
            <a:ext cx="491820" cy="20680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963" tIns="10963" rIns="10963" bIns="10963" anchor="ctr">
            <a:spAutoFit/>
          </a:bodyPr>
          <a:lstStyle>
            <a:lvl1pPr>
              <a:defRPr sz="700"/>
            </a:lvl1pPr>
          </a:lstStyle>
          <a:p>
            <a:pPr algn="ctr"/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Fase 4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DIAGNÓSTICO…">
            <a:extLst>
              <a:ext uri="{FF2B5EF4-FFF2-40B4-BE49-F238E27FC236}">
                <a16:creationId xmlns:a16="http://schemas.microsoft.com/office/drawing/2014/main" id="{6B598F93-6561-4439-B194-7AF827EC0617}"/>
              </a:ext>
            </a:extLst>
          </p:cNvPr>
          <p:cNvSpPr txBox="1"/>
          <p:nvPr/>
        </p:nvSpPr>
        <p:spPr>
          <a:xfrm>
            <a:off x="313060" y="249949"/>
            <a:ext cx="2839201" cy="39147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963" tIns="10963" rIns="10963" bIns="10963" anchor="ctr">
            <a:spAutoFit/>
          </a:bodyPr>
          <a:lstStyle/>
          <a:p>
            <a:pPr>
              <a:defRPr sz="600" b="0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Logo y </a:t>
            </a:r>
          </a:p>
          <a:p>
            <a:pPr>
              <a:defRPr sz="600" b="0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nombre del cliente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OBJETIVOS…">
            <a:extLst>
              <a:ext uri="{FF2B5EF4-FFF2-40B4-BE49-F238E27FC236}">
                <a16:creationId xmlns:a16="http://schemas.microsoft.com/office/drawing/2014/main" id="{0B4C1D91-A81A-47E5-B66B-BF681B2A3076}"/>
              </a:ext>
            </a:extLst>
          </p:cNvPr>
          <p:cNvSpPr txBox="1"/>
          <p:nvPr/>
        </p:nvSpPr>
        <p:spPr>
          <a:xfrm>
            <a:off x="3594533" y="249949"/>
            <a:ext cx="2839201" cy="39147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963" tIns="10963" rIns="10963" bIns="10963" anchor="ctr">
            <a:spAutoFit/>
          </a:bodyPr>
          <a:lstStyle/>
          <a:p>
            <a:pPr algn="r">
              <a:defRPr sz="600" b="0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Logo y </a:t>
            </a:r>
          </a:p>
          <a:p>
            <a:pPr algn="r">
              <a:defRPr sz="600" b="0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nombre del consultor</a:t>
            </a:r>
          </a:p>
        </p:txBody>
      </p:sp>
      <p:sp>
        <p:nvSpPr>
          <p:cNvPr id="72" name="Las condiciones serán…">
            <a:extLst>
              <a:ext uri="{FF2B5EF4-FFF2-40B4-BE49-F238E27FC236}">
                <a16:creationId xmlns:a16="http://schemas.microsoft.com/office/drawing/2014/main" id="{8C2C76E1-E5D9-4CD6-9882-649396D1429C}"/>
              </a:ext>
            </a:extLst>
          </p:cNvPr>
          <p:cNvSpPr txBox="1"/>
          <p:nvPr/>
        </p:nvSpPr>
        <p:spPr>
          <a:xfrm>
            <a:off x="313060" y="9545888"/>
            <a:ext cx="2583112" cy="19141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0963" tIns="10963" rIns="10963" bIns="10963" anchor="ctr">
            <a:spAutoFit/>
          </a:bodyPr>
          <a:lstStyle>
            <a:lvl1pPr algn="l">
              <a:defRPr sz="400" b="0"/>
            </a:lvl1pPr>
          </a:lstStyle>
          <a:p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Las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condiciones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serán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2979381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ángulo 36">
            <a:extLst>
              <a:ext uri="{FF2B5EF4-FFF2-40B4-BE49-F238E27FC236}">
                <a16:creationId xmlns:a16="http://schemas.microsoft.com/office/drawing/2014/main" id="{577764EB-E7B7-4579-9699-86D4E302CD05}"/>
              </a:ext>
            </a:extLst>
          </p:cNvPr>
          <p:cNvSpPr/>
          <p:nvPr/>
        </p:nvSpPr>
        <p:spPr>
          <a:xfrm>
            <a:off x="0" y="2204934"/>
            <a:ext cx="6858000" cy="2234722"/>
          </a:xfrm>
          <a:prstGeom prst="rect">
            <a:avLst/>
          </a:prstGeom>
          <a:solidFill>
            <a:srgbClr val="4574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32" name="DIAGNÓSTICO…">
            <a:extLst>
              <a:ext uri="{FF2B5EF4-FFF2-40B4-BE49-F238E27FC236}">
                <a16:creationId xmlns:a16="http://schemas.microsoft.com/office/drawing/2014/main" id="{59EE7C7E-A2EF-4DE8-9178-3271B9642412}"/>
              </a:ext>
            </a:extLst>
          </p:cNvPr>
          <p:cNvSpPr txBox="1"/>
          <p:nvPr/>
        </p:nvSpPr>
        <p:spPr>
          <a:xfrm>
            <a:off x="368663" y="999310"/>
            <a:ext cx="2839201" cy="113013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963" tIns="10963" rIns="10963" bIns="10963" anchor="ctr">
            <a:spAutoFit/>
          </a:bodyPr>
          <a:lstStyle/>
          <a:p>
            <a:pPr algn="l">
              <a:defRPr sz="600" b="0"/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DIAGNÓSTICO</a:t>
            </a:r>
          </a:p>
          <a:p>
            <a:pPr algn="just">
              <a:defRPr sz="600" b="0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La marca cuenta con un excelente posicionamiento en Miami pero requiere de un impulso digital para aprovechar al máximo su potencial  a nivel internacional.</a:t>
            </a:r>
            <a:endParaRPr lang="es-EC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OBJETIVOS…">
            <a:extLst>
              <a:ext uri="{FF2B5EF4-FFF2-40B4-BE49-F238E27FC236}">
                <a16:creationId xmlns:a16="http://schemas.microsoft.com/office/drawing/2014/main" id="{E83D980B-0243-4856-BEAD-FDC849119AB2}"/>
              </a:ext>
            </a:extLst>
          </p:cNvPr>
          <p:cNvSpPr txBox="1"/>
          <p:nvPr/>
        </p:nvSpPr>
        <p:spPr>
          <a:xfrm>
            <a:off x="3650136" y="999310"/>
            <a:ext cx="2839201" cy="76080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963" tIns="10963" rIns="10963" bIns="10963" anchor="ctr">
            <a:spAutoFit/>
          </a:bodyPr>
          <a:lstStyle/>
          <a:p>
            <a:pPr algn="l">
              <a:defRPr sz="600" b="0"/>
            </a:pP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</a:p>
          <a:p>
            <a:pPr>
              <a:defRPr sz="600" b="0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1- Ingresos pasivos</a:t>
            </a:r>
          </a:p>
          <a:p>
            <a:pPr>
              <a:defRPr sz="600" b="0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2- Ofrecer su servicio online</a:t>
            </a:r>
          </a:p>
          <a:p>
            <a:pPr>
              <a:defRPr sz="600" b="0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3- Conseguir clientes online</a:t>
            </a:r>
          </a:p>
        </p:txBody>
      </p:sp>
      <p:sp>
        <p:nvSpPr>
          <p:cNvPr id="34" name="PLAN ESTRATÉGICO">
            <a:extLst>
              <a:ext uri="{FF2B5EF4-FFF2-40B4-BE49-F238E27FC236}">
                <a16:creationId xmlns:a16="http://schemas.microsoft.com/office/drawing/2014/main" id="{AA4D2557-CCD1-4899-AA87-47ED28B90E05}"/>
              </a:ext>
            </a:extLst>
          </p:cNvPr>
          <p:cNvSpPr txBox="1"/>
          <p:nvPr/>
        </p:nvSpPr>
        <p:spPr>
          <a:xfrm>
            <a:off x="2137444" y="2281268"/>
            <a:ext cx="2583112" cy="20680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963" tIns="10963" rIns="10963" bIns="10963" anchor="ctr">
            <a:spAutoFit/>
          </a:bodyPr>
          <a:lstStyle>
            <a:lvl1pPr>
              <a:defRPr sz="600" b="0"/>
            </a:lvl1pPr>
          </a:lstStyle>
          <a:p>
            <a:pPr algn="ctr"/>
            <a:r>
              <a:rPr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ESTRATÉGICO</a:t>
            </a:r>
          </a:p>
        </p:txBody>
      </p:sp>
      <p:sp>
        <p:nvSpPr>
          <p:cNvPr id="38" name="DIAGNÓSTICO…">
            <a:extLst>
              <a:ext uri="{FF2B5EF4-FFF2-40B4-BE49-F238E27FC236}">
                <a16:creationId xmlns:a16="http://schemas.microsoft.com/office/drawing/2014/main" id="{1C848A0B-67AF-4A21-842D-F218974D1185}"/>
              </a:ext>
            </a:extLst>
          </p:cNvPr>
          <p:cNvSpPr txBox="1"/>
          <p:nvPr/>
        </p:nvSpPr>
        <p:spPr>
          <a:xfrm>
            <a:off x="368663" y="2626735"/>
            <a:ext cx="2839201" cy="76080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963" tIns="10963" rIns="10963" bIns="10963" anchor="ctr">
            <a:spAutoFit/>
          </a:bodyPr>
          <a:lstStyle/>
          <a:p>
            <a:pPr>
              <a:defRPr sz="600" b="0"/>
            </a:pPr>
            <a:r>
              <a:rPr lang="es-EC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ESTRATEGIAS</a:t>
            </a:r>
          </a:p>
          <a:p>
            <a:pPr marL="171450" indent="-171450">
              <a:buFont typeface="Arial" panose="020B0604020202020204" pitchFamily="34" charset="0"/>
              <a:buChar char="•"/>
              <a:defRPr sz="600" b="0"/>
            </a:pPr>
            <a:r>
              <a:rPr lang="es-E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Funnel</a:t>
            </a: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captación de clientes </a:t>
            </a:r>
            <a:r>
              <a:rPr lang="es-E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evergreen</a:t>
            </a: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formación</a:t>
            </a:r>
          </a:p>
          <a:p>
            <a:pPr marL="171450" indent="-171450">
              <a:buFont typeface="Arial" panose="020B0604020202020204" pitchFamily="34" charset="0"/>
              <a:buChar char="•"/>
              <a:defRPr sz="600" b="0"/>
            </a:pPr>
            <a:r>
              <a:rPr lang="es-E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Funnel</a:t>
            </a: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captación de clientes</a:t>
            </a:r>
            <a:endParaRPr lang="es-EC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OBJETIVOS…">
            <a:extLst>
              <a:ext uri="{FF2B5EF4-FFF2-40B4-BE49-F238E27FC236}">
                <a16:creationId xmlns:a16="http://schemas.microsoft.com/office/drawing/2014/main" id="{71C9E442-0DFA-49CD-8EF3-1A8505EC66A0}"/>
              </a:ext>
            </a:extLst>
          </p:cNvPr>
          <p:cNvSpPr txBox="1"/>
          <p:nvPr/>
        </p:nvSpPr>
        <p:spPr>
          <a:xfrm>
            <a:off x="3650136" y="2626735"/>
            <a:ext cx="2839201" cy="168413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963" tIns="10963" rIns="10963" bIns="10963" anchor="ctr">
            <a:spAutoFit/>
          </a:bodyPr>
          <a:lstStyle/>
          <a:p>
            <a:pPr>
              <a:defRPr sz="600" b="0"/>
            </a:pPr>
            <a:r>
              <a:rPr lang="es-EC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TÁCTICAS</a:t>
            </a:r>
          </a:p>
          <a:p>
            <a:pPr marL="171450" indent="-171450">
              <a:buFont typeface="Arial" panose="020B0604020202020204" pitchFamily="34" charset="0"/>
              <a:buChar char="•"/>
              <a:defRPr sz="600" b="0"/>
            </a:pP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Ideación de </a:t>
            </a:r>
            <a:r>
              <a:rPr lang="es-E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funnels</a:t>
            </a:r>
            <a:endParaRPr lang="es-E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600" b="0"/>
            </a:pP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Creación de plan formativo</a:t>
            </a:r>
          </a:p>
          <a:p>
            <a:pPr marL="171450" indent="-171450">
              <a:buFont typeface="Arial" panose="020B0604020202020204" pitchFamily="34" charset="0"/>
              <a:buChar char="•"/>
              <a:defRPr sz="600" b="0"/>
            </a:pP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Definición de contenidos</a:t>
            </a:r>
          </a:p>
          <a:p>
            <a:pPr marL="171450" indent="-171450">
              <a:buFont typeface="Arial" panose="020B0604020202020204" pitchFamily="34" charset="0"/>
              <a:buChar char="•"/>
              <a:defRPr sz="600" b="0"/>
            </a:pP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Promoción con </a:t>
            </a:r>
            <a:r>
              <a:rPr lang="es-E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Ads</a:t>
            </a:r>
            <a:endParaRPr lang="es-E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600" b="0"/>
            </a:pP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Lanzamiento de reto</a:t>
            </a:r>
          </a:p>
          <a:p>
            <a:pPr marL="171450" indent="-171450">
              <a:buFont typeface="Arial" panose="020B0604020202020204" pitchFamily="34" charset="0"/>
              <a:buChar char="•"/>
              <a:defRPr sz="600" b="0"/>
            </a:pP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 </a:t>
            </a:r>
            <a:r>
              <a:rPr lang="es-E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Magnets</a:t>
            </a:r>
            <a:endParaRPr lang="es-E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600" b="0"/>
            </a:pP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Sistemas de registro de clientes</a:t>
            </a:r>
          </a:p>
          <a:p>
            <a:pPr marL="171450" indent="-171450">
              <a:buFont typeface="Arial" panose="020B0604020202020204" pitchFamily="34" charset="0"/>
              <a:buChar char="•"/>
              <a:defRPr sz="600" b="0"/>
            </a:pP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de citas online</a:t>
            </a:r>
            <a:endParaRPr lang="es-EC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Línea">
            <a:extLst>
              <a:ext uri="{FF2B5EF4-FFF2-40B4-BE49-F238E27FC236}">
                <a16:creationId xmlns:a16="http://schemas.microsoft.com/office/drawing/2014/main" id="{481D949D-DCA2-400C-94BE-B7946FCAADE1}"/>
              </a:ext>
            </a:extLst>
          </p:cNvPr>
          <p:cNvSpPr/>
          <p:nvPr/>
        </p:nvSpPr>
        <p:spPr>
          <a:xfrm>
            <a:off x="424266" y="5530417"/>
            <a:ext cx="6009468" cy="0"/>
          </a:xfrm>
          <a:prstGeom prst="line">
            <a:avLst/>
          </a:prstGeom>
          <a:ln w="38100">
            <a:solidFill>
              <a:schemeClr val="accent1"/>
            </a:solidFill>
            <a:miter lim="400000"/>
            <a:tailEnd type="triangle"/>
          </a:ln>
        </p:spPr>
        <p:txBody>
          <a:bodyPr lIns="10963" tIns="10963" rIns="10963" bIns="10963" anchor="ctr"/>
          <a:lstStyle/>
          <a:p>
            <a:pPr>
              <a:defRPr sz="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6" name="Enero">
            <a:extLst>
              <a:ext uri="{FF2B5EF4-FFF2-40B4-BE49-F238E27FC236}">
                <a16:creationId xmlns:a16="http://schemas.microsoft.com/office/drawing/2014/main" id="{F375097E-6E12-426D-B4CF-B3C6761170EE}"/>
              </a:ext>
            </a:extLst>
          </p:cNvPr>
          <p:cNvSpPr txBox="1"/>
          <p:nvPr/>
        </p:nvSpPr>
        <p:spPr>
          <a:xfrm>
            <a:off x="964297" y="6111174"/>
            <a:ext cx="430906" cy="20680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0963" tIns="10963" rIns="10963" bIns="10963" anchor="ctr">
            <a:spAutoFit/>
          </a:bodyPr>
          <a:lstStyle>
            <a:lvl1pPr>
              <a:defRPr sz="700"/>
            </a:lvl1pPr>
          </a:lstStyle>
          <a:p>
            <a:pPr algn="ctr"/>
            <a:r>
              <a:rPr sz="1200" dirty="0" err="1">
                <a:latin typeface="Arial" panose="020B0604020202020204" pitchFamily="34" charset="0"/>
                <a:cs typeface="Arial" panose="020B0604020202020204" pitchFamily="34" charset="0"/>
              </a:rPr>
              <a:t>Enero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Febrero">
            <a:extLst>
              <a:ext uri="{FF2B5EF4-FFF2-40B4-BE49-F238E27FC236}">
                <a16:creationId xmlns:a16="http://schemas.microsoft.com/office/drawing/2014/main" id="{3059E1EF-AB7A-41EA-A6EF-5EA875AAC326}"/>
              </a:ext>
            </a:extLst>
          </p:cNvPr>
          <p:cNvSpPr txBox="1"/>
          <p:nvPr/>
        </p:nvSpPr>
        <p:spPr>
          <a:xfrm>
            <a:off x="3074815" y="6111174"/>
            <a:ext cx="559147" cy="20680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0963" tIns="10963" rIns="10963" bIns="10963" anchor="ctr">
            <a:spAutoFit/>
          </a:bodyPr>
          <a:lstStyle>
            <a:lvl1pPr>
              <a:defRPr sz="700"/>
            </a:lvl1pPr>
          </a:lstStyle>
          <a:p>
            <a:pPr algn="ctr"/>
            <a:r>
              <a:rPr sz="1200">
                <a:latin typeface="Arial" panose="020B0604020202020204" pitchFamily="34" charset="0"/>
                <a:cs typeface="Arial" panose="020B0604020202020204" pitchFamily="34" charset="0"/>
              </a:rPr>
              <a:t>Febrero</a:t>
            </a:r>
          </a:p>
        </p:txBody>
      </p:sp>
      <p:sp>
        <p:nvSpPr>
          <p:cNvPr id="48" name="Marzo">
            <a:extLst>
              <a:ext uri="{FF2B5EF4-FFF2-40B4-BE49-F238E27FC236}">
                <a16:creationId xmlns:a16="http://schemas.microsoft.com/office/drawing/2014/main" id="{BF465C77-351C-4D56-8447-1D5FA6ED436A}"/>
              </a:ext>
            </a:extLst>
          </p:cNvPr>
          <p:cNvSpPr txBox="1"/>
          <p:nvPr/>
        </p:nvSpPr>
        <p:spPr>
          <a:xfrm>
            <a:off x="5304756" y="6111174"/>
            <a:ext cx="448539" cy="20680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0963" tIns="10963" rIns="10963" bIns="10963" anchor="ctr">
            <a:spAutoFit/>
          </a:bodyPr>
          <a:lstStyle>
            <a:lvl1pPr>
              <a:defRPr sz="700"/>
            </a:lvl1pPr>
          </a:lstStyle>
          <a:p>
            <a:pPr algn="ctr"/>
            <a:r>
              <a:rPr sz="1200">
                <a:latin typeface="Arial" panose="020B0604020202020204" pitchFamily="34" charset="0"/>
                <a:cs typeface="Arial" panose="020B0604020202020204" pitchFamily="34" charset="0"/>
              </a:rPr>
              <a:t>Marzo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AF918FBF-0BF4-4611-A905-54AD8B73484B}"/>
              </a:ext>
            </a:extLst>
          </p:cNvPr>
          <p:cNvSpPr/>
          <p:nvPr/>
        </p:nvSpPr>
        <p:spPr>
          <a:xfrm>
            <a:off x="2760387" y="4619422"/>
            <a:ext cx="133722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C" sz="1200" b="1" dirty="0">
                <a:latin typeface="Arial" panose="020B0604020202020204" pitchFamily="34" charset="0"/>
                <a:cs typeface="Arial" panose="020B0604020202020204" pitchFamily="34" charset="0"/>
              </a:rPr>
              <a:t>CRONOGRAMA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C9737CB1-2EE1-49B5-A72F-A7FDF15ED2A5}"/>
              </a:ext>
            </a:extLst>
          </p:cNvPr>
          <p:cNvSpPr/>
          <p:nvPr/>
        </p:nvSpPr>
        <p:spPr>
          <a:xfrm>
            <a:off x="2760387" y="6484834"/>
            <a:ext cx="13440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C" sz="1200" b="1" dirty="0">
                <a:latin typeface="Arial" panose="020B0604020202020204" pitchFamily="34" charset="0"/>
                <a:cs typeface="Arial" panose="020B0604020202020204" pitchFamily="34" charset="0"/>
              </a:rPr>
              <a:t>PRESUPUESTO</a:t>
            </a:r>
          </a:p>
        </p:txBody>
      </p:sp>
      <p:pic>
        <p:nvPicPr>
          <p:cNvPr id="58" name="Imagen 57">
            <a:extLst>
              <a:ext uri="{FF2B5EF4-FFF2-40B4-BE49-F238E27FC236}">
                <a16:creationId xmlns:a16="http://schemas.microsoft.com/office/drawing/2014/main" id="{CDE59090-AC17-4DC0-9866-EFE79501C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903" y="4930727"/>
            <a:ext cx="817706" cy="1168921"/>
          </a:xfrm>
          <a:prstGeom prst="rect">
            <a:avLst/>
          </a:prstGeom>
        </p:spPr>
      </p:pic>
      <p:pic>
        <p:nvPicPr>
          <p:cNvPr id="59" name="Imagen 58">
            <a:extLst>
              <a:ext uri="{FF2B5EF4-FFF2-40B4-BE49-F238E27FC236}">
                <a16:creationId xmlns:a16="http://schemas.microsoft.com/office/drawing/2014/main" id="{DEBBDB06-8A57-4A74-9D15-D74802276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534" y="4930727"/>
            <a:ext cx="817706" cy="1168921"/>
          </a:xfrm>
          <a:prstGeom prst="rect">
            <a:avLst/>
          </a:prstGeom>
        </p:spPr>
      </p:pic>
      <p:pic>
        <p:nvPicPr>
          <p:cNvPr id="60" name="Imagen 59">
            <a:extLst>
              <a:ext uri="{FF2B5EF4-FFF2-40B4-BE49-F238E27FC236}">
                <a16:creationId xmlns:a16="http://schemas.microsoft.com/office/drawing/2014/main" id="{B97CEF9E-128B-4F59-A363-98F10F5C3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168" y="4930727"/>
            <a:ext cx="817706" cy="1168921"/>
          </a:xfrm>
          <a:prstGeom prst="rect">
            <a:avLst/>
          </a:prstGeom>
        </p:spPr>
      </p:pic>
      <p:sp>
        <p:nvSpPr>
          <p:cNvPr id="72" name="Las condiciones serán…">
            <a:extLst>
              <a:ext uri="{FF2B5EF4-FFF2-40B4-BE49-F238E27FC236}">
                <a16:creationId xmlns:a16="http://schemas.microsoft.com/office/drawing/2014/main" id="{8C2C76E1-E5D9-4CD6-9882-649396D1429C}"/>
              </a:ext>
            </a:extLst>
          </p:cNvPr>
          <p:cNvSpPr txBox="1"/>
          <p:nvPr/>
        </p:nvSpPr>
        <p:spPr>
          <a:xfrm>
            <a:off x="313060" y="9401616"/>
            <a:ext cx="6231434" cy="36069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963" tIns="10963" rIns="10963" bIns="10963" anchor="ctr">
            <a:spAutoFit/>
          </a:bodyPr>
          <a:lstStyle>
            <a:lvl1pPr algn="l">
              <a:defRPr sz="400" b="0"/>
            </a:lvl1pPr>
          </a:lstStyle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Para comenzar a trabajar requerimos el ingreso del 50% del presupuesto total en el número de cuenta XXXX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. La propuesta tiene una validez de 30 días. </a:t>
            </a:r>
          </a:p>
        </p:txBody>
      </p:sp>
      <p:pic>
        <p:nvPicPr>
          <p:cNvPr id="27" name="unnamed.png" descr="unnamed.png">
            <a:extLst>
              <a:ext uri="{FF2B5EF4-FFF2-40B4-BE49-F238E27FC236}">
                <a16:creationId xmlns:a16="http://schemas.microsoft.com/office/drawing/2014/main" id="{91EAA2CB-31F7-454C-BBC0-DE86C59A8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136" y="199710"/>
            <a:ext cx="2839201" cy="457014"/>
          </a:xfrm>
          <a:prstGeom prst="rect">
            <a:avLst/>
          </a:prstGeom>
          <a:ln w="3175">
            <a:miter lim="400000"/>
          </a:ln>
        </p:spPr>
      </p:pic>
      <p:pic>
        <p:nvPicPr>
          <p:cNvPr id="28" name="descarga.png" descr="descarga.png">
            <a:extLst>
              <a:ext uri="{FF2B5EF4-FFF2-40B4-BE49-F238E27FC236}">
                <a16:creationId xmlns:a16="http://schemas.microsoft.com/office/drawing/2014/main" id="{B977D40F-386A-465E-A6B8-0939A0C59E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63" y="199710"/>
            <a:ext cx="1741176" cy="609414"/>
          </a:xfrm>
          <a:prstGeom prst="rect">
            <a:avLst/>
          </a:prstGeom>
          <a:ln w="3175">
            <a:miter lim="400000"/>
          </a:ln>
        </p:spPr>
      </p:pic>
      <p:sp>
        <p:nvSpPr>
          <p:cNvPr id="29" name="Enero">
            <a:extLst>
              <a:ext uri="{FF2B5EF4-FFF2-40B4-BE49-F238E27FC236}">
                <a16:creationId xmlns:a16="http://schemas.microsoft.com/office/drawing/2014/main" id="{21828BA6-EB1E-46D8-8B71-7B8F8210E6D1}"/>
              </a:ext>
            </a:extLst>
          </p:cNvPr>
          <p:cNvSpPr txBox="1"/>
          <p:nvPr/>
        </p:nvSpPr>
        <p:spPr>
          <a:xfrm>
            <a:off x="778903" y="5303847"/>
            <a:ext cx="817706" cy="20680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963" tIns="10963" rIns="10963" bIns="10963" anchor="ctr">
            <a:spAutoFit/>
          </a:bodyPr>
          <a:lstStyle>
            <a:lvl1pPr>
              <a:defRPr sz="700"/>
            </a:lvl1pPr>
          </a:lstStyle>
          <a:p>
            <a:pPr algn="ctr"/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IDEACIÓN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Enero">
            <a:extLst>
              <a:ext uri="{FF2B5EF4-FFF2-40B4-BE49-F238E27FC236}">
                <a16:creationId xmlns:a16="http://schemas.microsoft.com/office/drawing/2014/main" id="{ED264E87-12D8-4395-A905-07D2E478F247}"/>
              </a:ext>
            </a:extLst>
          </p:cNvPr>
          <p:cNvSpPr txBox="1"/>
          <p:nvPr/>
        </p:nvSpPr>
        <p:spPr>
          <a:xfrm>
            <a:off x="2945534" y="5211514"/>
            <a:ext cx="817706" cy="39147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963" tIns="10963" rIns="10963" bIns="10963" anchor="ctr">
            <a:spAutoFit/>
          </a:bodyPr>
          <a:lstStyle>
            <a:lvl1pPr>
              <a:defRPr sz="700"/>
            </a:lvl1pPr>
          </a:lstStyle>
          <a:p>
            <a:pPr algn="ctr"/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LANZA-</a:t>
            </a:r>
          </a:p>
          <a:p>
            <a:pPr algn="ctr"/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MIENTO</a:t>
            </a:r>
          </a:p>
        </p:txBody>
      </p:sp>
      <p:sp>
        <p:nvSpPr>
          <p:cNvPr id="31" name="Enero">
            <a:extLst>
              <a:ext uri="{FF2B5EF4-FFF2-40B4-BE49-F238E27FC236}">
                <a16:creationId xmlns:a16="http://schemas.microsoft.com/office/drawing/2014/main" id="{E152BEAB-A618-4DAC-AB0A-32BCC616F2EC}"/>
              </a:ext>
            </a:extLst>
          </p:cNvPr>
          <p:cNvSpPr txBox="1"/>
          <p:nvPr/>
        </p:nvSpPr>
        <p:spPr>
          <a:xfrm>
            <a:off x="5116168" y="5211514"/>
            <a:ext cx="817706" cy="39147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963" tIns="10963" rIns="10963" bIns="10963" anchor="ctr">
            <a:spAutoFit/>
          </a:bodyPr>
          <a:lstStyle>
            <a:lvl1pPr>
              <a:defRPr sz="700"/>
            </a:lvl1pPr>
          </a:lstStyle>
          <a:p>
            <a:pPr algn="ctr"/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OPTIMI-</a:t>
            </a:r>
          </a:p>
          <a:p>
            <a:pPr algn="ctr"/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ZACIÓN</a:t>
            </a:r>
          </a:p>
        </p:txBody>
      </p:sp>
      <p:graphicFrame>
        <p:nvGraphicFramePr>
          <p:cNvPr id="35" name="Tabla">
            <a:extLst>
              <a:ext uri="{FF2B5EF4-FFF2-40B4-BE49-F238E27FC236}">
                <a16:creationId xmlns:a16="http://schemas.microsoft.com/office/drawing/2014/main" id="{7237FA22-025E-457F-97B8-97340E77D6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1900439"/>
              </p:ext>
            </p:extLst>
          </p:nvPr>
        </p:nvGraphicFramePr>
        <p:xfrm>
          <a:off x="313282" y="6848453"/>
          <a:ext cx="6231435" cy="2520464"/>
        </p:xfrm>
        <a:graphic>
          <a:graphicData uri="http://schemas.openxmlformats.org/drawingml/2006/table">
            <a:tbl>
              <a:tblPr/>
              <a:tblGrid>
                <a:gridCol w="2851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9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144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200" b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Helvetica Neue"/>
                        </a:rPr>
                        <a:t>Elemento</a:t>
                      </a:r>
                      <a:endParaRPr sz="1200" b="1" dirty="0">
                        <a:latin typeface="Arial" panose="020B0604020202020204" pitchFamily="34" charset="0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  <a:solidFill>
                      <a:srgbClr val="F2D56B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defRPr sz="1800"/>
                      </a:pPr>
                      <a:r>
                        <a:rPr sz="1200" b="1" dirty="0" err="1">
                          <a:latin typeface="Arial" panose="020B0604020202020204" pitchFamily="34" charset="0"/>
                          <a:cs typeface="Arial" panose="020B0604020202020204" pitchFamily="34" charset="0"/>
                          <a:sym typeface="Helvetica Neue"/>
                        </a:rPr>
                        <a:t>Precio</a:t>
                      </a:r>
                      <a:endParaRPr sz="1200" b="1" dirty="0">
                        <a:latin typeface="Arial" panose="020B0604020202020204" pitchFamily="34" charset="0"/>
                        <a:cs typeface="Arial" panose="020B0604020202020204" pitchFamily="34" charset="0"/>
                        <a:sym typeface="Helvetica Neue"/>
                      </a:endParaRP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  <a:solidFill>
                      <a:srgbClr val="F2D56B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defRPr sz="1800"/>
                      </a:pPr>
                      <a:r>
                        <a:rPr sz="1200" b="1" dirty="0">
                          <a:latin typeface="Arial" panose="020B0604020202020204" pitchFamily="34" charset="0"/>
                          <a:cs typeface="Arial" panose="020B0604020202020204" pitchFamily="34" charset="0"/>
                          <a:sym typeface="Helvetica Neue"/>
                        </a:rPr>
                        <a:t>TOTAL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  <a:solidFill>
                      <a:srgbClr val="F2D5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220">
                <a:tc>
                  <a:txBody>
                    <a:bodyPr/>
                    <a:lstStyle/>
                    <a:p>
                      <a:pPr algn="l" defTabSz="914400">
                        <a:defRPr sz="800">
                          <a:sym typeface="Helvetica Neue"/>
                        </a:defRPr>
                      </a:pPr>
                      <a:r>
                        <a:rPr lang="es-E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Funnels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defRPr sz="800">
                          <a:sym typeface="Helvetica Neue"/>
                        </a:defRPr>
                      </a:pPr>
                      <a:r>
                        <a:rPr lang="es-E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$ 5.000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defRPr sz="800">
                          <a:sym typeface="Helvetica Neue"/>
                        </a:defRPr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20">
                <a:tc>
                  <a:txBody>
                    <a:bodyPr/>
                    <a:lstStyle/>
                    <a:p>
                      <a:pPr algn="l" defTabSz="914400">
                        <a:defRPr sz="800">
                          <a:sym typeface="Helvetica Neue"/>
                        </a:defRPr>
                      </a:pPr>
                      <a:r>
                        <a:rPr lang="es-E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Contenido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sym typeface="Helvetica Neue"/>
                        </a:defRPr>
                      </a:pPr>
                      <a:r>
                        <a:rPr lang="es-E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$ 2.000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defRPr sz="800">
                          <a:sym typeface="Helvetica Neue"/>
                        </a:defRPr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220">
                <a:tc>
                  <a:txBody>
                    <a:bodyPr/>
                    <a:lstStyle/>
                    <a:p>
                      <a:pPr algn="l" defTabSz="914400">
                        <a:defRPr sz="800">
                          <a:sym typeface="Helvetica Neue"/>
                        </a:defRPr>
                      </a:pPr>
                      <a:r>
                        <a:rPr lang="es-E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Ads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sym typeface="Helvetica Neue"/>
                        </a:defRPr>
                      </a:pPr>
                      <a:r>
                        <a:rPr lang="es-E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$ 10.000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defRPr sz="800">
                          <a:sym typeface="Helvetica Neue"/>
                        </a:defRPr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220">
                <a:tc>
                  <a:txBody>
                    <a:bodyPr/>
                    <a:lstStyle/>
                    <a:p>
                      <a:pPr algn="l" defTabSz="914400">
                        <a:defRPr sz="800">
                          <a:sym typeface="Helvetica Neue"/>
                        </a:defRPr>
                      </a:pPr>
                      <a:r>
                        <a:rPr lang="es-E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Plataforma formativa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sym typeface="Helvetica Neue"/>
                        </a:defRPr>
                      </a:pPr>
                      <a:r>
                        <a:rPr lang="es-E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$ 5.000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defRPr sz="800">
                          <a:solidFill>
                            <a:srgbClr val="FFFFFF"/>
                          </a:solidFill>
                          <a:sym typeface="Helvetica Neue"/>
                        </a:defRPr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220">
                <a:tc>
                  <a:txBody>
                    <a:bodyPr/>
                    <a:lstStyle/>
                    <a:p>
                      <a:pPr algn="l" defTabSz="914400">
                        <a:defRPr sz="800">
                          <a:sym typeface="Helvetica Neue"/>
                        </a:defRPr>
                      </a:pPr>
                      <a:r>
                        <a:rPr lang="pt-B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Sistemas de registro/citas online</a:t>
                      </a: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sym typeface="Helvetica Neue"/>
                        </a:defRPr>
                      </a:pPr>
                      <a:r>
                        <a:rPr lang="es-E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$ 1.000</a:t>
                      </a:r>
                    </a:p>
                  </a:txBody>
                  <a:tcPr marL="50800" marR="50800" marT="50800" marB="508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defRPr sz="800">
                          <a:solidFill>
                            <a:srgbClr val="FFFFFF"/>
                          </a:solidFill>
                          <a:sym typeface="Helvetica Neue"/>
                        </a:defRPr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330509"/>
                  </a:ext>
                </a:extLst>
              </a:tr>
              <a:tr h="367220">
                <a:tc gridSpan="2">
                  <a:txBody>
                    <a:bodyPr/>
                    <a:lstStyle/>
                    <a:p>
                      <a:pPr algn="l" defTabSz="914400">
                        <a:defRPr sz="800">
                          <a:sym typeface="Helvetica Neue"/>
                        </a:defRPr>
                      </a:pPr>
                      <a:endParaRPr lang="pt-B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sym typeface="Helvetica Neue"/>
                        </a:defRPr>
                      </a:pPr>
                      <a:endParaRPr lang="es-E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">
                          <a:solidFill>
                            <a:srgbClr val="FFFFFF"/>
                          </a:solidFill>
                          <a:sym typeface="Helvetica Neue"/>
                        </a:defRPr>
                      </a:pPr>
                      <a:r>
                        <a:rPr lang="es-E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$ 23.000</a:t>
                      </a:r>
                    </a:p>
                  </a:txBody>
                  <a:tcPr marL="50800" marR="50800" marT="50800" marB="5080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  <a:solidFill>
                      <a:srgbClr val="4574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096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4520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</TotalTime>
  <Words>218</Words>
  <Application>Microsoft Office PowerPoint</Application>
  <PresentationFormat>A4 (210 x 297 mm)</PresentationFormat>
  <Paragraphs>87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Photoshopiado</dc:creator>
  <cp:lastModifiedBy>Photoshopiado</cp:lastModifiedBy>
  <cp:revision>9</cp:revision>
  <dcterms:created xsi:type="dcterms:W3CDTF">2019-10-09T16:29:07Z</dcterms:created>
  <dcterms:modified xsi:type="dcterms:W3CDTF">2019-10-09T17:43:29Z</dcterms:modified>
</cp:coreProperties>
</file>